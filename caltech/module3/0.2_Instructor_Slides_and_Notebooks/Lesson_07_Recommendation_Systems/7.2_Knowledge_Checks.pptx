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0"/>
  </p:notesMasterIdLst>
  <p:sldIdLst>
    <p:sldId id="514" r:id="rId2"/>
    <p:sldId id="492" r:id="rId3"/>
    <p:sldId id="264" r:id="rId4"/>
    <p:sldId id="493" r:id="rId5"/>
    <p:sldId id="494" r:id="rId6"/>
    <p:sldId id="495" r:id="rId7"/>
    <p:sldId id="496" r:id="rId8"/>
    <p:sldId id="263" r:id="rId9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HzYfO3DqeMZhD0M+kbN8qQ==" hashData="151MAf5EdgcUSX9s0cbO11Jzf+bs63HJqZKntaXpfOaaYV/Gcr3IgJr6vv/2i4Yl8ixJakoV5yp2anw7pbEsSA=="/>
  <p:extLst>
    <p:ext uri="{EFAFB233-063F-42B5-8137-9DF3F51BA10A}">
      <p15:sldGuideLst xmlns:p15="http://schemas.microsoft.com/office/powerpoint/2012/main">
        <p15:guide id="1" orient="horz" pos="249" userDrawn="1">
          <p15:clr>
            <a:srgbClr val="A4A3A4"/>
          </p15:clr>
        </p15:guide>
        <p15:guide id="2" orient="horz" pos="1383" userDrawn="1">
          <p15:clr>
            <a:srgbClr val="A4A3A4"/>
          </p15:clr>
        </p15:guide>
        <p15:guide id="4" orient="horz" pos="431" userDrawn="1">
          <p15:clr>
            <a:srgbClr val="A4A3A4"/>
          </p15:clr>
        </p15:guide>
        <p15:guide id="5" orient="horz" pos="521" userDrawn="1">
          <p15:clr>
            <a:srgbClr val="A4A3A4"/>
          </p15:clr>
        </p15:guide>
        <p15:guide id="6" orient="horz" pos="1905" userDrawn="1">
          <p15:clr>
            <a:srgbClr val="A4A3A4"/>
          </p15:clr>
        </p15:guide>
        <p15:guide id="7" orient="horz" pos="2903" userDrawn="1">
          <p15:clr>
            <a:srgbClr val="A4A3A4"/>
          </p15:clr>
        </p15:guide>
        <p15:guide id="8" orient="horz" pos="4377" userDrawn="1">
          <p15:clr>
            <a:srgbClr val="A4A3A4"/>
          </p15:clr>
        </p15:guide>
        <p15:guide id="9" pos="5120">
          <p15:clr>
            <a:srgbClr val="A4A3A4"/>
          </p15:clr>
        </p15:guide>
        <p15:guide id="10" orient="horz" pos="3651" userDrawn="1">
          <p15:clr>
            <a:srgbClr val="A4A3A4"/>
          </p15:clr>
        </p15:guide>
        <p15:guide id="11" orient="horz" pos="215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40AC38-2664-05E0-B402-A19237358FE9}" name="Sreelakshmi C V" initials="SCV" userId="S::sreelakshmi.cv@simplilearn.com::9536a640-3660-4b90-8982-e23c8a9647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7B0"/>
    <a:srgbClr val="024F93"/>
    <a:srgbClr val="3D9CD8"/>
    <a:srgbClr val="A8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C6CBF2-2E61-45B8-8902-266B551D4566}" v="6" dt="2023-06-23T09:50:15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75479" autoAdjust="0"/>
  </p:normalViewPr>
  <p:slideViewPr>
    <p:cSldViewPr snapToGrid="0" showGuides="1">
      <p:cViewPr varScale="1">
        <p:scale>
          <a:sx n="39" d="100"/>
          <a:sy n="39" d="100"/>
        </p:scale>
        <p:origin x="1824" y="54"/>
      </p:cViewPr>
      <p:guideLst>
        <p:guide orient="horz" pos="249"/>
        <p:guide orient="horz" pos="1383"/>
        <p:guide orient="horz" pos="431"/>
        <p:guide orient="horz" pos="521"/>
        <p:guide orient="horz" pos="1905"/>
        <p:guide orient="horz" pos="2903"/>
        <p:guide orient="horz" pos="4377"/>
        <p:guide pos="5120"/>
        <p:guide orient="horz" pos="3651"/>
        <p:guide orient="horz" pos="21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1794-B535-4C48-BBE8-526578888544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900C1-7326-4B4D-9C4E-22E7230B6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7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2696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8093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3898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4389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64" name="Google Shape;264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8;p22">
            <a:extLst>
              <a:ext uri="{FF2B5EF4-FFF2-40B4-BE49-F238E27FC236}">
                <a16:creationId xmlns:a16="http://schemas.microsoft.com/office/drawing/2014/main" id="{7B4145C4-EE9A-4056-4B60-0881CACD0193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;p23">
            <a:extLst>
              <a:ext uri="{FF2B5EF4-FFF2-40B4-BE49-F238E27FC236}">
                <a16:creationId xmlns:a16="http://schemas.microsoft.com/office/drawing/2014/main" id="{CE57947D-DBAC-21DB-73BE-F78F1726973A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lvl="0" indent="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162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 preserve="1" userDrawn="1">
  <p:cSld name="Lesson Nam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;p23">
            <a:extLst>
              <a:ext uri="{FF2B5EF4-FFF2-40B4-BE49-F238E27FC236}">
                <a16:creationId xmlns:a16="http://schemas.microsoft.com/office/drawing/2014/main" id="{0FE0BEE1-B2B3-D8AE-8B21-7B4BAC91C14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lvl="0" indent="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9918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 preserve="1" userDrawn="1">
  <p:cSld name="You Already Know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4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4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45805213-5148-C374-0B6A-FBC7DF66B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</a:pPr>
            <a:endParaRPr dirty="0"/>
          </a:p>
        </p:txBody>
      </p:sp>
      <p:sp>
        <p:nvSpPr>
          <p:cNvPr id="5" name="Google Shape;73;p29">
            <a:extLst>
              <a:ext uri="{FF2B5EF4-FFF2-40B4-BE49-F238E27FC236}">
                <a16:creationId xmlns:a16="http://schemas.microsoft.com/office/drawing/2014/main" id="{A329659F-8931-D1BF-F644-B58CEC7A819F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9249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20">
          <p15:clr>
            <a:srgbClr val="00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You_already_k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6;p24">
            <a:extLst>
              <a:ext uri="{FF2B5EF4-FFF2-40B4-BE49-F238E27FC236}">
                <a16:creationId xmlns:a16="http://schemas.microsoft.com/office/drawing/2014/main" id="{6F1C32AD-6E65-45D9-86A4-DCDE0D32768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;p24">
            <a:extLst>
              <a:ext uri="{FF2B5EF4-FFF2-40B4-BE49-F238E27FC236}">
                <a16:creationId xmlns:a16="http://schemas.microsoft.com/office/drawing/2014/main" id="{26A301A2-0292-1A51-1C40-16AB99F30AB7}"/>
              </a:ext>
            </a:extLst>
          </p:cNvPr>
          <p:cNvSpPr/>
          <p:nvPr userDrawn="1"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0BBD519-6780-E29A-51F9-BC84AACEC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0783" y="1512887"/>
            <a:ext cx="13732042" cy="6618287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431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 preserve="1" userDrawn="1">
  <p:cSld name="Recap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5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6" name="Google Shape;36;p25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73;p29">
            <a:extLst>
              <a:ext uri="{FF2B5EF4-FFF2-40B4-BE49-F238E27FC236}">
                <a16:creationId xmlns:a16="http://schemas.microsoft.com/office/drawing/2014/main" id="{BA8E9C16-575E-F214-D660-349F8CD58800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  <p:sp>
        <p:nvSpPr>
          <p:cNvPr id="13" name="Google Shape;29;p24">
            <a:extLst>
              <a:ext uri="{FF2B5EF4-FFF2-40B4-BE49-F238E27FC236}">
                <a16:creationId xmlns:a16="http://schemas.microsoft.com/office/drawing/2014/main" id="{A8352C58-E1B7-7AF5-20DA-4A18ECBF310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243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 preserve="1" userDrawn="1">
  <p:cSld name="A day in the lif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03379F-6615-3946-F3DC-84DD58EC0F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47D8B3EC-6FC1-1D8C-89C7-6C535510F2D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  <p:sp>
        <p:nvSpPr>
          <p:cNvPr id="7" name="Google Shape;29;p24">
            <a:extLst>
              <a:ext uri="{FF2B5EF4-FFF2-40B4-BE49-F238E27FC236}">
                <a16:creationId xmlns:a16="http://schemas.microsoft.com/office/drawing/2014/main" id="{1D6B2300-6D1F-B115-8FF6-63B469079D08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ED1C70-09C3-3416-0187-C1611F801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2810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Aday_Rec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73;p29">
            <a:extLst>
              <a:ext uri="{FF2B5EF4-FFF2-40B4-BE49-F238E27FC236}">
                <a16:creationId xmlns:a16="http://schemas.microsoft.com/office/drawing/2014/main" id="{B3939B18-51C6-B760-9847-DBF969067996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/>
            </a:lvl1pPr>
          </a:lstStyle>
          <a:p>
            <a:pPr marL="228600" lvl="0" indent="-228600"/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B5EF1-B91C-9C3A-2571-75C7A1B0B8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4550" y="2603500"/>
            <a:ext cx="10807700" cy="5538468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1808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 preserve="1" userDrawn="1">
  <p:cSld name="Learning Objectiv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7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47" name="Google Shape;47;p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8944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/>
          </a:p>
        </p:txBody>
      </p:sp>
      <p:sp>
        <p:nvSpPr>
          <p:cNvPr id="5" name="Brandline_LVC">
            <a:extLst>
              <a:ext uri="{FF2B5EF4-FFF2-40B4-BE49-F238E27FC236}">
                <a16:creationId xmlns:a16="http://schemas.microsoft.com/office/drawing/2014/main" id="{78567AD7-7BF8-45E8-DB3F-F2D6FE361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67652" y="837660"/>
            <a:ext cx="4391501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384E7AB-95CF-3870-72EE-80D1C6CB17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2875" y="2758746"/>
            <a:ext cx="9036000" cy="10116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GB" dirty="0"/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GB" dirty="0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0792C23-1841-F349-D944-8E77CAED48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32356" y="3558751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746234C-6D4D-7050-90E1-5A68C85239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1837" y="4383470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F9AB914-01CE-78D6-02EB-58EA39C5A1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873" y="5195833"/>
            <a:ext cx="9034445" cy="1010072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grpSp>
        <p:nvGrpSpPr>
          <p:cNvPr id="13" name="Group 12" hidden="1">
            <a:extLst>
              <a:ext uri="{FF2B5EF4-FFF2-40B4-BE49-F238E27FC236}">
                <a16:creationId xmlns:a16="http://schemas.microsoft.com/office/drawing/2014/main" id="{16B8C86D-690C-8679-0C89-F4D009576CAF}"/>
              </a:ext>
            </a:extLst>
          </p:cNvPr>
          <p:cNvGrpSpPr>
            <a:grpSpLocks/>
          </p:cNvGrpSpPr>
          <p:nvPr userDrawn="1"/>
        </p:nvGrpSpPr>
        <p:grpSpPr>
          <a:xfrm>
            <a:off x="1239953" y="642551"/>
            <a:ext cx="4011669" cy="4670397"/>
            <a:chOff x="1239953" y="642551"/>
            <a:chExt cx="4011669" cy="467039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B747F5-5266-DDBF-8B8B-6AF78984F4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FFF687B-5B53-6973-9596-70BBBD72EE56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52DB3C-19AB-7AF5-B459-CAF2AF2C0973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309446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C3C8E8-C94E-EE19-7794-FFC583E56915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390312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958B4A-72D3-24FF-4B57-C742B90B61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4718948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526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 preserve="1" userDrawn="1">
  <p:cSld name="Topic Nam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8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;p28">
            <a:extLst>
              <a:ext uri="{FF2B5EF4-FFF2-40B4-BE49-F238E27FC236}">
                <a16:creationId xmlns:a16="http://schemas.microsoft.com/office/drawing/2014/main" id="{B82D352B-96E6-AAAA-F1D6-C3BB62225E8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739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preserve="1" userDrawn="1">
  <p:cSld name="Content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9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9DE67C09-DDD5-F518-3695-E699DFE5C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342900" lvl="0" indent="-342900" algn="ctr">
              <a:lnSpc>
                <a:spcPct val="115000"/>
              </a:lnSpc>
            </a:pPr>
            <a:endParaRPr dirty="0"/>
          </a:p>
        </p:txBody>
      </p:sp>
      <p:sp>
        <p:nvSpPr>
          <p:cNvPr id="3" name="Google Shape;73;p29">
            <a:extLst>
              <a:ext uri="{FF2B5EF4-FFF2-40B4-BE49-F238E27FC236}">
                <a16:creationId xmlns:a16="http://schemas.microsoft.com/office/drawing/2014/main" id="{38354FE8-D9C0-5D1E-6102-5F329424ACA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Picture 3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E2A3B44F-361D-277C-1049-456D319756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913238"/>
            <a:ext cx="1219478" cy="7291461"/>
          </a:xfrm>
          <a:prstGeom prst="rect">
            <a:avLst/>
          </a:prstGeom>
        </p:spPr>
      </p:pic>
      <p:sp>
        <p:nvSpPr>
          <p:cNvPr id="5" name="Google Shape;62;p29">
            <a:extLst>
              <a:ext uri="{FF2B5EF4-FFF2-40B4-BE49-F238E27FC236}">
                <a16:creationId xmlns:a16="http://schemas.microsoft.com/office/drawing/2014/main" id="{AB337D6E-8449-CC57-E216-03FFF7FCA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263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0;p29">
            <a:extLst>
              <a:ext uri="{FF2B5EF4-FFF2-40B4-BE49-F238E27FC236}">
                <a16:creationId xmlns:a16="http://schemas.microsoft.com/office/drawing/2014/main" id="{F32A8D92-D03F-CBD0-6218-23FF67B0B49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73;p29">
            <a:extLst>
              <a:ext uri="{FF2B5EF4-FFF2-40B4-BE49-F238E27FC236}">
                <a16:creationId xmlns:a16="http://schemas.microsoft.com/office/drawing/2014/main" id="{E6FEAC37-04A1-A80A-3380-E02111EDE62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  <p:pic>
        <p:nvPicPr>
          <p:cNvPr id="2" name="Picture 1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CE904573-2F71-0E73-120D-C3CFB365EE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897196"/>
            <a:ext cx="1219478" cy="7291461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3E84CA6-4EC8-7CAF-7B14-1E891A95D9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612636"/>
            <a:ext cx="13697000" cy="5517901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Google Shape;62;p29">
            <a:extLst>
              <a:ext uri="{FF2B5EF4-FFF2-40B4-BE49-F238E27FC236}">
                <a16:creationId xmlns:a16="http://schemas.microsoft.com/office/drawing/2014/main" id="{AC975B08-1151-8CCE-4012-72257845E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7637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 preserve="1">
  <p:cSld name="Knowledge Check 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5;p30">
            <a:extLst>
              <a:ext uri="{FF2B5EF4-FFF2-40B4-BE49-F238E27FC236}">
                <a16:creationId xmlns:a16="http://schemas.microsoft.com/office/drawing/2014/main" id="{DBF002C0-AEB4-C534-B92D-91D67E6C130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picture containing arrow&#10;&#10;Description automatically generated">
            <a:extLst>
              <a:ext uri="{FF2B5EF4-FFF2-40B4-BE49-F238E27FC236}">
                <a16:creationId xmlns:a16="http://schemas.microsoft.com/office/drawing/2014/main" id="{72D68FFF-4E46-2E6B-67FA-3692374CF0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Google Shape;77;p30">
            <a:extLst>
              <a:ext uri="{FF2B5EF4-FFF2-40B4-BE49-F238E27FC236}">
                <a16:creationId xmlns:a16="http://schemas.microsoft.com/office/drawing/2014/main" id="{6A084776-D363-88F2-5A8F-FF2A63DFFD9D}"/>
              </a:ext>
            </a:extLst>
          </p:cNvPr>
          <p:cNvSpPr/>
          <p:nvPr userDrawn="1"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</a:pPr>
            <a:r>
              <a:rPr lang="en-US" sz="2800" b="1" i="0" u="none" strike="noStrike" cap="none" dirty="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 dirty="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7809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CCF119B-BE71-CB96-2E2D-4D70E3379D0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Box">
            <a:extLst>
              <a:ext uri="{FF2B5EF4-FFF2-40B4-BE49-F238E27FC236}">
                <a16:creationId xmlns:a16="http://schemas.microsoft.com/office/drawing/2014/main" id="{E7B51B66-9EEF-5EF8-EAC3-1AA2FA35C688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KT_Text">
            <a:extLst>
              <a:ext uri="{FF2B5EF4-FFF2-40B4-BE49-F238E27FC236}">
                <a16:creationId xmlns:a16="http://schemas.microsoft.com/office/drawing/2014/main" id="{9E09D2CD-8815-6873-76A0-750613A9B008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Rec_Box">
            <a:extLst>
              <a:ext uri="{FF2B5EF4-FFF2-40B4-BE49-F238E27FC236}">
                <a16:creationId xmlns:a16="http://schemas.microsoft.com/office/drawing/2014/main" id="{0E9A9157-9B5D-B020-50FD-5C124440F36A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">
            <a:extLst>
              <a:ext uri="{FF2B5EF4-FFF2-40B4-BE49-F238E27FC236}">
                <a16:creationId xmlns:a16="http://schemas.microsoft.com/office/drawing/2014/main" id="{FDF40B25-39B3-30ED-29BE-9F1AD527FCE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A.</a:t>
            </a:r>
          </a:p>
        </p:txBody>
      </p:sp>
      <p:sp>
        <p:nvSpPr>
          <p:cNvPr id="8" name="Opt_A">
            <a:extLst>
              <a:ext uri="{FF2B5EF4-FFF2-40B4-BE49-F238E27FC236}">
                <a16:creationId xmlns:a16="http://schemas.microsoft.com/office/drawing/2014/main" id="{2FFD20E1-904E-7B1C-E7A2-1A99877EE0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9" name="B">
            <a:extLst>
              <a:ext uri="{FF2B5EF4-FFF2-40B4-BE49-F238E27FC236}">
                <a16:creationId xmlns:a16="http://schemas.microsoft.com/office/drawing/2014/main" id="{DB253624-90B8-4C2B-CA21-11904E51AA4D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B.</a:t>
            </a:r>
          </a:p>
        </p:txBody>
      </p:sp>
      <p:sp>
        <p:nvSpPr>
          <p:cNvPr id="10" name="Opt_B">
            <a:extLst>
              <a:ext uri="{FF2B5EF4-FFF2-40B4-BE49-F238E27FC236}">
                <a16:creationId xmlns:a16="http://schemas.microsoft.com/office/drawing/2014/main" id="{497E5D63-1C02-9A8F-6921-B4CF2B94E4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1" name="C">
            <a:extLst>
              <a:ext uri="{FF2B5EF4-FFF2-40B4-BE49-F238E27FC236}">
                <a16:creationId xmlns:a16="http://schemas.microsoft.com/office/drawing/2014/main" id="{92E01BA2-8854-8B22-5E3B-BD48CB6419FD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C.</a:t>
            </a:r>
          </a:p>
        </p:txBody>
      </p:sp>
      <p:sp>
        <p:nvSpPr>
          <p:cNvPr id="12" name="Opt_C">
            <a:extLst>
              <a:ext uri="{FF2B5EF4-FFF2-40B4-BE49-F238E27FC236}">
                <a16:creationId xmlns:a16="http://schemas.microsoft.com/office/drawing/2014/main" id="{231483CE-CEF9-6644-5D62-34D212C6A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3" name="D">
            <a:extLst>
              <a:ext uri="{FF2B5EF4-FFF2-40B4-BE49-F238E27FC236}">
                <a16:creationId xmlns:a16="http://schemas.microsoft.com/office/drawing/2014/main" id="{29F7EC89-820C-671D-8F62-46D0543D5E13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D.</a:t>
            </a:r>
          </a:p>
        </p:txBody>
      </p:sp>
      <p:sp>
        <p:nvSpPr>
          <p:cNvPr id="14" name="Opt_D">
            <a:extLst>
              <a:ext uri="{FF2B5EF4-FFF2-40B4-BE49-F238E27FC236}">
                <a16:creationId xmlns:a16="http://schemas.microsoft.com/office/drawing/2014/main" id="{D10DFBE0-864B-7031-13FD-BF42F6452A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5" name="Q">
            <a:extLst>
              <a:ext uri="{FF2B5EF4-FFF2-40B4-BE49-F238E27FC236}">
                <a16:creationId xmlns:a16="http://schemas.microsoft.com/office/drawing/2014/main" id="{48CDC350-FF9D-82C7-1731-756BBBD2CE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78759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6" name="Q_No">
            <a:extLst>
              <a:ext uri="{FF2B5EF4-FFF2-40B4-BE49-F238E27FC236}">
                <a16:creationId xmlns:a16="http://schemas.microsoft.com/office/drawing/2014/main" id="{3C327913-27E5-47C0-5CE8-C92623BE9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85081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EF08981F-95F3-6867-209A-E2A49BEB7AC3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C5585E79-E8D7-0597-1980-9449B5FE0292}"/>
              </a:ext>
            </a:extLst>
          </p:cNvPr>
          <p:cNvSpPr txBox="1"/>
          <p:nvPr userDrawn="1"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55D1669A-D9BB-F86C-6916-C74581CEC093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25B26E89-236B-925D-2F8A-FDAD4518B1D0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FE57084E-D5CD-4D1D-AD6B-B0A29FBA4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1201" y="7277661"/>
            <a:ext cx="8834438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7CBBC3EA-7B88-E6C6-BE6B-D41D2C647A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CDEDD483-9F61-36CD-8536-63FB8C1D1DC9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BA405B45-EFAB-0D57-ADA9-DD1F4FD2F9B7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C6D60610-3ED0-B3DE-F0C6-1E2E0C6FC1CE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C6A04807-31DA-6E4E-AAB1-C5EB073355C4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D.</a:t>
            </a:r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19EED400-005F-8BFC-0381-17F5410E8424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C.</a:t>
            </a:r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21CD75C6-F639-739D-B089-020EF5CBFA3A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B.</a:t>
            </a:r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76DB4DA8-CC10-506C-D27B-9B1CE227D9B0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A.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F320B7DB-043B-B1AC-2976-FCB6609BE2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DF544E43-096D-AD15-9CFA-70A320AE02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969321A-3DCC-F52F-8C1B-6E04397531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5A890064-C69C-0664-8FC1-9D4423FC9A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0" name="Q_No">
            <a:extLst>
              <a:ext uri="{FF2B5EF4-FFF2-40B4-BE49-F238E27FC236}">
                <a16:creationId xmlns:a16="http://schemas.microsoft.com/office/drawing/2014/main" id="{849F198B-3872-2C5F-1135-C97DE16244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3" name="Q">
            <a:extLst>
              <a:ext uri="{FF2B5EF4-FFF2-40B4-BE49-F238E27FC236}">
                <a16:creationId xmlns:a16="http://schemas.microsoft.com/office/drawing/2014/main" id="{60A1257D-1BE9-A8E6-A635-AD767E48FA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78759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4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F8347C9-CC7D-0DF8-C02A-47B5723D857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06DF12F7-7FC3-A6A0-1F9D-2B31AAB76C62}"/>
              </a:ext>
            </a:extLst>
          </p:cNvPr>
          <p:cNvSpPr txBox="1"/>
          <p:nvPr userDrawn="1"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B75A6E75-5672-578C-B075-BA07AABDEC08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B67B1844-0936-2346-DC2D-072812F8FF82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505D6B31-CF67-8AE8-6D6C-1AE10E434F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4605" y="7277661"/>
            <a:ext cx="8601033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2AA669A4-854E-BC52-A6EB-CEC258CCD1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4ADF7E3A-81A0-2B00-A3DE-320BBA3EAADC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65E260BD-9AEB-3002-A10D-0ED784F237CC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667E1C0D-1A8F-3FEE-62D2-1CF59B597F36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A40B7AF7-3696-C4FB-D945-5436FC8398C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A.</a:t>
            </a:r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1494EC36-DEF5-5104-F8EA-E3D4B2BBD8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9AFF282F-7CD2-660E-F6FB-6A6841171D6F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B.</a:t>
            </a:r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1ADAF17-D7DF-669F-96A4-A5A66652F7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E0054334-AE0D-D3F5-C186-9EAB001CEBAA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C.</a:t>
            </a:r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98DDCBFB-B945-8ADF-F3B2-02F8E9E10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A5C29CAE-D65C-162C-E28E-5C00B6BF49E6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D.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787DB315-5654-6FF4-4775-BE435BA1CC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2" name="Q_No">
            <a:extLst>
              <a:ext uri="{FF2B5EF4-FFF2-40B4-BE49-F238E27FC236}">
                <a16:creationId xmlns:a16="http://schemas.microsoft.com/office/drawing/2014/main" id="{551AB18D-7558-158C-81FE-C82F7F1F5A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3" name="Q">
            <a:extLst>
              <a:ext uri="{FF2B5EF4-FFF2-40B4-BE49-F238E27FC236}">
                <a16:creationId xmlns:a16="http://schemas.microsoft.com/office/drawing/2014/main" id="{7AE9D496-B88E-4413-6608-26C16C4E14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78759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55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 preserve="1" userDrawn="1">
  <p:cSld name="Key Takeaway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7;p27">
            <a:extLst>
              <a:ext uri="{FF2B5EF4-FFF2-40B4-BE49-F238E27FC236}">
                <a16:creationId xmlns:a16="http://schemas.microsoft.com/office/drawing/2014/main" id="{DFADBA2E-0E91-C8B8-3A16-37E16A8024BC}"/>
              </a:ext>
            </a:extLst>
          </p:cNvPr>
          <p:cNvSpPr/>
          <p:nvPr userDrawn="1"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Brandline_LVC">
            <a:extLst>
              <a:ext uri="{FF2B5EF4-FFF2-40B4-BE49-F238E27FC236}">
                <a16:creationId xmlns:a16="http://schemas.microsoft.com/office/drawing/2014/main" id="{F274DB65-9471-8FF1-5F67-3A8B02FBF3BD}"/>
              </a:ext>
            </a:extLst>
          </p:cNvPr>
          <p:cNvSpPr/>
          <p:nvPr userDrawn="1"/>
        </p:nvSpPr>
        <p:spPr>
          <a:xfrm>
            <a:off x="3468553" y="837660"/>
            <a:ext cx="337748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6AF3B2F-06F8-C0B9-F594-763BF82CAE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875" y="1967907"/>
            <a:ext cx="9036000" cy="10116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GB" dirty="0"/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GB" dirty="0"/>
              <a:t>Click to add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B16BD-1678-AAEB-705C-ACC6F4E638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2356" y="2755555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DA0B994-BAF5-3871-1AE2-2955090941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31837" y="3567917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153C8D8-C81D-C688-AD6D-054C831ED8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2873" y="4392637"/>
            <a:ext cx="9034445" cy="1010072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 dirty="0"/>
              <a:t>Click to add text</a:t>
            </a:r>
          </a:p>
        </p:txBody>
      </p:sp>
      <p:grpSp>
        <p:nvGrpSpPr>
          <p:cNvPr id="23" name="Group 22" hidden="1">
            <a:extLst>
              <a:ext uri="{FF2B5EF4-FFF2-40B4-BE49-F238E27FC236}">
                <a16:creationId xmlns:a16="http://schemas.microsoft.com/office/drawing/2014/main" id="{7D3CB7FC-1EE6-F753-459E-16D565CC72D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39953" y="642551"/>
            <a:ext cx="4011669" cy="4670397"/>
            <a:chOff x="1239953" y="642551"/>
            <a:chExt cx="4011669" cy="467039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38B2B5-F7D2-93C4-4B9B-2A8705CFBB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C60516D-1A86-E05D-CDB5-234F5B1904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049D24-171C-A4CE-5C84-362BCAE9D2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09446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B4E1D9-0180-437B-334A-07F7823362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90312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0CFBF9F-0A86-F779-0E1B-EE62890972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4718948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5036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isted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45;p35">
            <a:extLst>
              <a:ext uri="{FF2B5EF4-FFF2-40B4-BE49-F238E27FC236}">
                <a16:creationId xmlns:a16="http://schemas.microsoft.com/office/drawing/2014/main" id="{3DE6C980-51B8-EAB6-D92E-2C853D6EBC40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3;p27">
            <a:extLst>
              <a:ext uri="{FF2B5EF4-FFF2-40B4-BE49-F238E27FC236}">
                <a16:creationId xmlns:a16="http://schemas.microsoft.com/office/drawing/2014/main" id="{734849E0-7011-DCAE-0132-1322B2CB68DB}"/>
              </a:ext>
            </a:extLst>
          </p:cNvPr>
          <p:cNvPicPr preferRelativeResize="0"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9;p35">
            <a:extLst>
              <a:ext uri="{FF2B5EF4-FFF2-40B4-BE49-F238E27FC236}">
                <a16:creationId xmlns:a16="http://schemas.microsoft.com/office/drawing/2014/main" id="{7948A9B8-596D-80F3-DBBD-D7EDD89ABE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6E140C6-C70A-C947-7711-0BA4214D3E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5683BC-C8F7-FCBC-E768-137F5B5152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120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 preserve="1" userDrawn="1">
  <p:cSld name="Unassisted Practic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5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DC99CB9-B9F0-7414-1AF5-045EF855FD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F61395D-ECD0-5341-1B2E-8C1937098D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335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ac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D1405CDE-CE1A-9CEE-B0C9-004F72CAF344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659D141-D5AB-CB0E-32C4-D683A6B3D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872126"/>
            <a:ext cx="13697000" cy="5406695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41251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 preserve="1" userDrawn="1">
  <p:cSld name="Section-End Projec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2;p29">
            <a:extLst>
              <a:ext uri="{FF2B5EF4-FFF2-40B4-BE49-F238E27FC236}">
                <a16:creationId xmlns:a16="http://schemas.microsoft.com/office/drawing/2014/main" id="{C8B862E1-9541-C73F-B4E1-7205F5F0B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35605C-2EDD-0BD1-F3BC-5BCA7F763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373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 preserve="1" userDrawn="1">
  <p:cSld name="Lesson-end Projec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3E86479C-5EE1-09E2-3000-A2B690B93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12C144F-B154-93C1-CFA0-EFC58EC80E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08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 preserve="1" userDrawn="1">
  <p:cSld name="Phase-End Pro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52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29CD2D-82CE-C005-D724-CC0A723196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09861E1-DB64-D3D1-CB74-AB30BEF48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437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5D05C5A-9735-BDF2-45FB-ECA0E61F3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4890" y="1377162"/>
            <a:ext cx="10314607" cy="6815160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01244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136CAA0F-DD7B-0995-4200-59792701A9E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AA6052-B67C-D403-9614-DC0C0FDBA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 dirty="0"/>
              <a:t>Topic Name</a:t>
            </a:r>
          </a:p>
        </p:txBody>
      </p:sp>
      <p:pic>
        <p:nvPicPr>
          <p:cNvPr id="4" name="Picture 3" descr="A picture containing child art, table, illustration, design&#10;&#10;Description automatically generated">
            <a:extLst>
              <a:ext uri="{FF2B5EF4-FFF2-40B4-BE49-F238E27FC236}">
                <a16:creationId xmlns:a16="http://schemas.microsoft.com/office/drawing/2014/main" id="{46A1F55C-8226-40C3-1D94-8C75609932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76" y="2171113"/>
            <a:ext cx="4823955" cy="455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86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 preserve="1" userDrawn="1">
  <p:cSld name="Discuss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A18AE-0804-BDBB-3D58-9BEC7C3955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38432-77B6-A0DB-E9D4-05C1ED62A6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 dirty="0"/>
              <a:t>Topic Name</a:t>
            </a:r>
          </a:p>
        </p:txBody>
      </p:sp>
    </p:spTree>
    <p:extLst>
      <p:ext uri="{BB962C8B-B14F-4D97-AF65-F5344CB8AC3E}">
        <p14:creationId xmlns:p14="http://schemas.microsoft.com/office/powerpoint/2010/main" val="1456677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 preserve="1" userDrawn="1">
  <p:cSld name="Discussion-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190EDBE-42C7-8577-2262-B01D520296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892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le-Play Activ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2444B81E-A7F2-DD03-1F7C-99ED49FAF88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C918EE9-73C7-114C-7405-846E29EB7A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/>
            <a:r>
              <a:rPr lang="en-US"/>
              <a:t>Topic Name</a:t>
            </a:r>
          </a:p>
        </p:txBody>
      </p:sp>
      <p:pic>
        <p:nvPicPr>
          <p:cNvPr id="9" name="Picture 8" descr="A group of people reading books&#10;&#10;Description automatically generated with low confidence">
            <a:extLst>
              <a:ext uri="{FF2B5EF4-FFF2-40B4-BE49-F238E27FC236}">
                <a16:creationId xmlns:a16="http://schemas.microsoft.com/office/drawing/2014/main" id="{F1D10771-AD41-E153-2D96-91B7FA5508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29" y="2323120"/>
            <a:ext cx="5664389" cy="44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84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 preserve="1" userDrawn="1">
  <p:cSld name="Course-end Projec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7"/>
          <p:cNvPicPr preferRelativeResize="0"/>
          <p:nvPr/>
        </p:nvPicPr>
        <p:blipFill>
          <a:blip r:embed="rId2"/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17">
            <a:extLst>
              <a:ext uri="{FF2B5EF4-FFF2-40B4-BE49-F238E27FC236}">
                <a16:creationId xmlns:a16="http://schemas.microsoft.com/office/drawing/2014/main" id="{662DC3C5-12CB-1B7D-A0D6-88DA0A652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F575C20-C035-6B61-875E-DFDF9C3950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8878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 preserve="1" userDrawn="1">
  <p:cSld name="Before the Next Clas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0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0"/>
          <p:cNvSpPr/>
          <p:nvPr userDrawn="1"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 dirty="0">
              <a:solidFill>
                <a:srgbClr val="404040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A8AA2E1-D889-F5D4-9C7E-C1EBB43245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711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 preserve="1" userDrawn="1">
  <p:cSld name="What Next?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1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1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>
              <a:solidFill>
                <a:srgbClr val="404040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57DB387E-1A29-1EE9-8E02-0C57BA6B6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5630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whatnext_nextcl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FEACA45-46CE-3149-F1F8-368C0B35FE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0649" y="1377162"/>
            <a:ext cx="8439490" cy="6815160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27944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>
  <p:cSld name="1_Topic Nam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35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None/>
              <a:defRPr sz="2800" b="1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297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B8547DCB-0B93-88B9-E345-AFD101D6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</a:pP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140D4C3-76A5-7AB4-F1FA-F4CE290D1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lnSpc>
                <a:spcPct val="114000"/>
              </a:lnSpc>
              <a:buNone/>
            </a:pPr>
            <a:r>
              <a:rPr lang="en-GB" dirty="0"/>
              <a:t>Click to edit Master text styles</a:t>
            </a:r>
          </a:p>
          <a:p>
            <a:pPr lvl="1">
              <a:lnSpc>
                <a:spcPct val="114000"/>
              </a:lnSpc>
              <a:spcBef>
                <a:spcPts val="1000"/>
              </a:spcBef>
            </a:pPr>
            <a:r>
              <a:rPr lang="en-GB" dirty="0"/>
              <a:t>Second level</a:t>
            </a:r>
          </a:p>
          <a:p>
            <a:pPr lvl="2">
              <a:lnSpc>
                <a:spcPct val="114000"/>
              </a:lnSpc>
              <a:spcBef>
                <a:spcPts val="10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GB" dirty="0"/>
              <a:t>Third level</a:t>
            </a:r>
          </a:p>
        </p:txBody>
      </p:sp>
      <p:pic>
        <p:nvPicPr>
          <p:cNvPr id="3" name="Picture 2" descr="A picture containing black, darkness&#10;&#10;Description automatically generated" hidden="1">
            <a:extLst>
              <a:ext uri="{FF2B5EF4-FFF2-40B4-BE49-F238E27FC236}">
                <a16:creationId xmlns:a16="http://schemas.microsoft.com/office/drawing/2014/main" id="{D0996812-ACEF-2708-D65E-97AE86E32B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9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06" r:id="rId13"/>
    <p:sldLayoutId id="2147483707" r:id="rId14"/>
    <p:sldLayoutId id="2147483708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9" r:id="rId32"/>
  </p:sldLayoutIdLst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lang="en-US" sz="2200" kern="1200" dirty="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5ACBF0"/>
          </p15:clr>
        </p15:guide>
        <p15:guide id="2" pos="5120" userDrawn="1">
          <p15:clr>
            <a:srgbClr val="000000"/>
          </p15:clr>
        </p15:guide>
        <p15:guide id="3" orient="horz" pos="2880" userDrawn="1">
          <p15:clr>
            <a:srgbClr val="000000"/>
          </p15:clr>
        </p15:guide>
        <p15:guide id="4" orient="horz" pos="5184" userDrawn="1">
          <p15:clr>
            <a:srgbClr val="5ACBF0"/>
          </p15:clr>
        </p15:guide>
        <p15:guide id="5" pos="1016" userDrawn="1">
          <p15:clr>
            <a:srgbClr val="5ACBF0"/>
          </p15:clr>
        </p15:guide>
        <p15:guide id="6" pos="512" userDrawn="1">
          <p15:clr>
            <a:srgbClr val="F26B43"/>
          </p15:clr>
        </p15:guide>
        <p15:guide id="7" pos="9224" userDrawn="1">
          <p15:clr>
            <a:srgbClr val="5ACBF0"/>
          </p15:clr>
        </p15:guide>
        <p15:guide id="8" pos="9747" userDrawn="1">
          <p15:clr>
            <a:srgbClr val="F26B43"/>
          </p15:clr>
        </p15:guide>
        <p15:guide id="9" orient="horz" pos="288" userDrawn="1">
          <p15:clr>
            <a:srgbClr val="F26B43"/>
          </p15:clr>
        </p15:guide>
        <p15:guide id="10" orient="horz" pos="5472" userDrawn="1">
          <p15:clr>
            <a:srgbClr val="F26B43"/>
          </p15:clr>
        </p15:guide>
        <p15:guide id="11" pos="8576" userDrawn="1">
          <p15:clr>
            <a:srgbClr val="5ACBF0"/>
          </p15:clr>
        </p15:guide>
        <p15:guide id="12" pos="8192" userDrawn="1">
          <p15:clr>
            <a:srgbClr val="5ACBF0"/>
          </p15:clr>
        </p15:guide>
        <p15:guide id="13" pos="1664" userDrawn="1">
          <p15:clr>
            <a:srgbClr val="5ACBF0"/>
          </p15:clr>
        </p15:guide>
        <p15:guide id="14" pos="204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US" dirty="0"/>
              <a:t>Hybrid, analytical, and batch</a:t>
            </a:r>
          </a:p>
        </p:txBody>
      </p:sp>
      <p:sp>
        <p:nvSpPr>
          <p:cNvPr id="201" name="Google Shape;201;p8"/>
          <p:cNvSpPr txBox="1"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dirty="0"/>
              <a:t>Collaborative filtering, content-based filtering, and hybrid</a:t>
            </a:r>
          </a:p>
        </p:txBody>
      </p:sp>
      <p:sp>
        <p:nvSpPr>
          <p:cNvPr id="202" name="Google Shape;202;p8"/>
          <p:cNvSpPr txBox="1"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US" dirty="0"/>
              <a:t>Online, offline, and nearline</a:t>
            </a:r>
          </a:p>
        </p:txBody>
      </p:sp>
      <p:sp>
        <p:nvSpPr>
          <p:cNvPr id="203" name="Google Shape;203;p8"/>
          <p:cNvSpPr txBox="1"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0"/>
            <a:r>
              <a:rPr lang="en-US" dirty="0"/>
              <a:t>Real time, passive, and hybrid</a:t>
            </a:r>
          </a:p>
        </p:txBody>
      </p:sp>
      <p:sp>
        <p:nvSpPr>
          <p:cNvPr id="199" name="Google Shape;199;p8"/>
          <p:cNvSpPr txBox="1"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What are the three types of recommendation engines?</a:t>
            </a:r>
          </a:p>
        </p:txBody>
      </p:sp>
      <p:sp>
        <p:nvSpPr>
          <p:cNvPr id="198" name="Google Shape;198;p8"/>
          <p:cNvSpPr txBox="1"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5170563-4DAF-3B83-A796-02F1B1B24F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51201" y="7277661"/>
            <a:ext cx="8834438" cy="584200"/>
          </a:xfrm>
        </p:spPr>
        <p:txBody>
          <a:bodyPr/>
          <a:lstStyle/>
          <a:p>
            <a:r>
              <a:rPr lang="en-US" dirty="0"/>
              <a:t> B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E29934E-D1D3-EF4A-D18E-5C633EB16E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9925" y="7935913"/>
            <a:ext cx="13095288" cy="1004887"/>
          </a:xfrm>
        </p:spPr>
        <p:txBody>
          <a:bodyPr/>
          <a:lstStyle/>
          <a:p>
            <a:r>
              <a:rPr lang="en-US" dirty="0"/>
              <a:t>There are three types of recommendation engines: collaborative filtering, content-based filtering, and hybrid.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6D1A92E-6691-D983-CB48-667767B2BF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2" y="5511422"/>
            <a:ext cx="11250613" cy="836613"/>
          </a:xfrm>
        </p:spPr>
        <p:txBody>
          <a:bodyPr/>
          <a:lstStyle/>
          <a:p>
            <a:r>
              <a:rPr lang="en-US" dirty="0"/>
              <a:t>Real time, passive, and hybrid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2D3098-6C8A-8C3A-7BE2-9D8681FCD8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566" y="4568181"/>
            <a:ext cx="11250613" cy="836613"/>
          </a:xfrm>
        </p:spPr>
        <p:txBody>
          <a:bodyPr/>
          <a:lstStyle/>
          <a:p>
            <a:r>
              <a:rPr lang="en-US" dirty="0"/>
              <a:t>Online, offline, and nearline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C35712-404D-2FC3-995F-56AA91A66F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4566" y="3629064"/>
            <a:ext cx="11250613" cy="836613"/>
          </a:xfrm>
        </p:spPr>
        <p:txBody>
          <a:bodyPr/>
          <a:lstStyle/>
          <a:p>
            <a:r>
              <a:rPr lang="en-US" dirty="0"/>
              <a:t>Collaborative filtering, content-based filtering, and hybrid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C08BE8-F3DB-D54A-B26A-3920F394DF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30450" y="2698180"/>
            <a:ext cx="11250613" cy="836613"/>
          </a:xfrm>
        </p:spPr>
        <p:txBody>
          <a:bodyPr/>
          <a:lstStyle/>
          <a:p>
            <a:r>
              <a:rPr lang="en-US" dirty="0"/>
              <a:t>Hybrid, analytical, and batch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C74F5-CD1D-B4EE-6672-E9A422B5FA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62100" y="1193800"/>
            <a:ext cx="1135063" cy="830263"/>
          </a:xfrm>
        </p:spPr>
        <p:txBody>
          <a:bodyPr/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1505F8-C30D-9AC7-791C-CE7B962DE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are the three types of recommendation engines?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US"/>
              <a:t>To perform real-time analysis</a:t>
            </a:r>
          </a:p>
        </p:txBody>
      </p:sp>
      <p:sp>
        <p:nvSpPr>
          <p:cNvPr id="201" name="Google Shape;201;p8"/>
          <p:cNvSpPr txBox="1"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/>
              <a:t>To create a list of recommended products</a:t>
            </a:r>
          </a:p>
        </p:txBody>
      </p:sp>
      <p:sp>
        <p:nvSpPr>
          <p:cNvPr id="202" name="Google Shape;202;p8"/>
          <p:cNvSpPr txBox="1"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US"/>
              <a:t>To narrow down relevant information</a:t>
            </a:r>
          </a:p>
        </p:txBody>
      </p:sp>
      <p:sp>
        <p:nvSpPr>
          <p:cNvPr id="203" name="Google Shape;203;p8"/>
          <p:cNvSpPr txBox="1"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0"/>
            <a:r>
              <a:rPr lang="en-US"/>
              <a:t>To procure data such as page views, view history, or cart events</a:t>
            </a:r>
          </a:p>
        </p:txBody>
      </p:sp>
      <p:sp>
        <p:nvSpPr>
          <p:cNvPr id="199" name="Google Shape;199;p8"/>
          <p:cNvSpPr txBox="1"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What is the purpose of data collection in recommendation engines?</a:t>
            </a:r>
          </a:p>
        </p:txBody>
      </p:sp>
      <p:sp>
        <p:nvSpPr>
          <p:cNvPr id="198" name="Google Shape;198;p8"/>
          <p:cNvSpPr txBox="1"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9148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E7C9D6-C45D-6F30-CC1E-7FA58E8A36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51201" y="7277661"/>
            <a:ext cx="8834438" cy="584200"/>
          </a:xfrm>
        </p:spPr>
        <p:txBody>
          <a:bodyPr/>
          <a:lstStyle/>
          <a:p>
            <a:r>
              <a:rPr lang="en-US" dirty="0"/>
              <a:t> D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23324C7-B439-E4F4-4BE1-41087A7F17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9925" y="7935913"/>
            <a:ext cx="13095288" cy="1004887"/>
          </a:xfrm>
        </p:spPr>
        <p:txBody>
          <a:bodyPr/>
          <a:lstStyle/>
          <a:p>
            <a:r>
              <a:rPr lang="en-US" dirty="0"/>
              <a:t>Data collection is the first step in the recommendation engine process, and it involves procuring data such as page views, view history, or cart events.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7D0CD1F-91F4-4180-0228-413936EA0F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2" y="5511422"/>
            <a:ext cx="11250613" cy="836613"/>
          </a:xfrm>
        </p:spPr>
        <p:txBody>
          <a:bodyPr/>
          <a:lstStyle/>
          <a:p>
            <a:r>
              <a:rPr lang="en-US" dirty="0"/>
              <a:t>To procure data such as page views, view history, or cart events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7DB02C-18E0-18E8-ABA5-477F2F9F04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566" y="4568181"/>
            <a:ext cx="11250613" cy="836613"/>
          </a:xfrm>
        </p:spPr>
        <p:txBody>
          <a:bodyPr/>
          <a:lstStyle/>
          <a:p>
            <a:r>
              <a:rPr lang="en-US" dirty="0"/>
              <a:t>To narrow down relevant information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4D99A1-D052-E896-2707-523540499B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4566" y="3629064"/>
            <a:ext cx="11250613" cy="836613"/>
          </a:xfrm>
        </p:spPr>
        <p:txBody>
          <a:bodyPr/>
          <a:lstStyle/>
          <a:p>
            <a:r>
              <a:rPr lang="en-US" dirty="0"/>
              <a:t>To create a list of recommended products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A4BAB5-9705-2374-822E-A24D1AEB7E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30450" y="2698180"/>
            <a:ext cx="11250613" cy="836613"/>
          </a:xfrm>
        </p:spPr>
        <p:txBody>
          <a:bodyPr/>
          <a:lstStyle/>
          <a:p>
            <a:r>
              <a:rPr lang="en-US" dirty="0"/>
              <a:t>To perform real-time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1DFC2-BFE9-D7F8-51DF-935E57675E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62100" y="1193800"/>
            <a:ext cx="1135063" cy="830263"/>
          </a:xfrm>
        </p:spPr>
        <p:txBody>
          <a:bodyPr/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CCDA4BA-E1BE-A4D8-E56F-B06E742B4B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is the purpose of data collection in recommendation engines?</a:t>
            </a:r>
          </a:p>
        </p:txBody>
      </p:sp>
    </p:spTree>
    <p:extLst>
      <p:ext uri="{BB962C8B-B14F-4D97-AF65-F5344CB8AC3E}">
        <p14:creationId xmlns:p14="http://schemas.microsoft.com/office/powerpoint/2010/main" val="15139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US"/>
              <a:t>Analyzing data to create a list of recommended products</a:t>
            </a:r>
          </a:p>
        </p:txBody>
      </p:sp>
      <p:sp>
        <p:nvSpPr>
          <p:cNvPr id="201" name="Google Shape;201;p8"/>
          <p:cNvSpPr txBox="1"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/>
              <a:t>Modulating offerings based on clients' internet consumption patterns</a:t>
            </a:r>
          </a:p>
        </p:txBody>
      </p:sp>
      <p:sp>
        <p:nvSpPr>
          <p:cNvPr id="202" name="Google Shape;202;p8"/>
          <p:cNvSpPr txBox="1"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US"/>
              <a:t>Providing recommendations based on the interests of similar users</a:t>
            </a:r>
          </a:p>
        </p:txBody>
      </p:sp>
      <p:sp>
        <p:nvSpPr>
          <p:cNvPr id="203" name="Google Shape;203;p8"/>
          <p:cNvSpPr txBox="1"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0"/>
            <a:r>
              <a:rPr lang="en-US"/>
              <a:t>Filtering data to narrow down on relevant information</a:t>
            </a:r>
          </a:p>
        </p:txBody>
      </p:sp>
      <p:sp>
        <p:nvSpPr>
          <p:cNvPr id="199" name="Google Shape;199;p8"/>
          <p:cNvSpPr txBox="1"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What is collaborative filtering?</a:t>
            </a:r>
          </a:p>
        </p:txBody>
      </p:sp>
      <p:sp>
        <p:nvSpPr>
          <p:cNvPr id="198" name="Google Shape;198;p8"/>
          <p:cNvSpPr txBox="1"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9292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B66F2D-AE55-0AEA-152C-054E9C68C7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51201" y="7277661"/>
            <a:ext cx="8834438" cy="584200"/>
          </a:xfrm>
        </p:spPr>
        <p:txBody>
          <a:bodyPr/>
          <a:lstStyle/>
          <a:p>
            <a:r>
              <a:rPr lang="en-US" dirty="0"/>
              <a:t> C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CFD6E60-E42A-3481-181F-46A0344CD8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9925" y="7935913"/>
            <a:ext cx="13095288" cy="1004887"/>
          </a:xfrm>
        </p:spPr>
        <p:txBody>
          <a:bodyPr/>
          <a:lstStyle/>
          <a:p>
            <a:r>
              <a:rPr lang="en-US" dirty="0"/>
              <a:t>Collaborative filtering is a type of recommendation engine that provides recommendations based on the interests of similar users.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B86E0CE-9230-517A-A64F-84B702A16A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2" y="5511422"/>
            <a:ext cx="11250613" cy="836613"/>
          </a:xfrm>
        </p:spPr>
        <p:txBody>
          <a:bodyPr/>
          <a:lstStyle/>
          <a:p>
            <a:r>
              <a:rPr lang="en-US" dirty="0"/>
              <a:t>Filtering data to narrow down on relevant information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D125CF7-C549-63F3-A53E-B566F1DD25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566" y="4568181"/>
            <a:ext cx="11250613" cy="836613"/>
          </a:xfrm>
        </p:spPr>
        <p:txBody>
          <a:bodyPr/>
          <a:lstStyle/>
          <a:p>
            <a:r>
              <a:rPr lang="en-US" dirty="0"/>
              <a:t>Providing recommendations based on the interests of similar users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04DC29-2251-D634-630A-6EEA2DC78C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4566" y="3629064"/>
            <a:ext cx="11250613" cy="836613"/>
          </a:xfrm>
        </p:spPr>
        <p:txBody>
          <a:bodyPr/>
          <a:lstStyle/>
          <a:p>
            <a:r>
              <a:rPr lang="en-US" dirty="0"/>
              <a:t>Modulating offerings based on clients' internet consumption patterns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D86263-25DD-65CE-AC50-A7E6BC7A99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30450" y="2698180"/>
            <a:ext cx="11250613" cy="836613"/>
          </a:xfrm>
        </p:spPr>
        <p:txBody>
          <a:bodyPr/>
          <a:lstStyle/>
          <a:p>
            <a:r>
              <a:rPr lang="en-US" dirty="0"/>
              <a:t>Analyzing data to create a list of recommended products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565E0-3786-DE72-72B6-B7A8C89073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62100" y="1193800"/>
            <a:ext cx="1135063" cy="830263"/>
          </a:xfrm>
        </p:spPr>
        <p:txBody>
          <a:bodyPr/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DA7840-8B54-F13C-6F22-18326283CA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is collaborative filtering?</a:t>
            </a:r>
          </a:p>
        </p:txBody>
      </p:sp>
    </p:spTree>
    <p:extLst>
      <p:ext uri="{BB962C8B-B14F-4D97-AF65-F5344CB8AC3E}">
        <p14:creationId xmlns:p14="http://schemas.microsoft.com/office/powerpoint/2010/main" val="2498673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9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None/>
            </a:pPr>
            <a:r>
              <a:rPr lang="en-US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3_LV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1042</TotalTime>
  <Words>313</Words>
  <Application>Microsoft Office PowerPoint</Application>
  <PresentationFormat>Custom</PresentationFormat>
  <Paragraphs>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Open Sans</vt:lpstr>
      <vt:lpstr>2023_LVC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Aniket Fulari</cp:lastModifiedBy>
  <cp:revision>77</cp:revision>
  <dcterms:created xsi:type="dcterms:W3CDTF">2023-05-19T12:36:11Z</dcterms:created>
  <dcterms:modified xsi:type="dcterms:W3CDTF">2025-01-09T11:17:15Z</dcterms:modified>
</cp:coreProperties>
</file>